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i1plknyhpJZYxN6tXaeq3z1c7E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2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" type="subTitle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" name="Google Shape;19;p1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2" name="Google Shape;22;p12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6" name="Google Shape;26;p13"/>
          <p:cNvSpPr txBox="1"/>
          <p:nvPr>
            <p:ph idx="2" type="body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8" name="Google Shape;28;p13"/>
          <p:cNvSpPr txBox="1"/>
          <p:nvPr>
            <p:ph idx="4" type="body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" type="body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6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7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7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6" name="Google Shape;56;p1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9" name="Google Shape;59;p17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9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9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9"/>
          <p:cNvSpPr txBox="1"/>
          <p:nvPr>
            <p:ph idx="1" type="body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0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0"/>
          <p:cNvSpPr txBox="1"/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8" name="Google Shape;78;p20"/>
          <p:cNvPicPr preferRelativeResize="0"/>
          <p:nvPr>
            <p:ph idx="2" type="pic"/>
          </p:nvPr>
        </p:nvPicPr>
        <p:blipFill/>
        <p:spPr>
          <a:xfrm>
            <a:off x="15" y="0"/>
            <a:ext cx="12191985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79" name="Google Shape;79;p20"/>
          <p:cNvSpPr txBox="1"/>
          <p:nvPr>
            <p:ph idx="1" type="body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0" name="Google Shape;80;p2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" type="body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6" name="Google Shape;86;p2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2"/>
          <p:cNvSpPr txBox="1"/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>
            <p:ph idx="1" type="body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4" name="Google Shape;94;p2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1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1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" name="Google Shape;13;p1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 txBox="1"/>
          <p:nvPr>
            <p:ph type="ctrTitle"/>
          </p:nvPr>
        </p:nvSpPr>
        <p:spPr>
          <a:xfrm>
            <a:off x="1009227" y="2359152"/>
            <a:ext cx="8862907" cy="199677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7000"/>
              <a:buFont typeface="Calibri"/>
              <a:buNone/>
            </a:pPr>
            <a:r>
              <a:rPr b="1" lang="en-US" sz="7000"/>
              <a:t>Problem - Solving</a:t>
            </a:r>
            <a:endParaRPr/>
          </a:p>
        </p:txBody>
      </p:sp>
      <p:sp>
        <p:nvSpPr>
          <p:cNvPr id="102" name="Google Shape;102;p1"/>
          <p:cNvSpPr txBox="1"/>
          <p:nvPr>
            <p:ph idx="1" type="subTitle"/>
          </p:nvPr>
        </p:nvSpPr>
        <p:spPr>
          <a:xfrm>
            <a:off x="1009227" y="4626505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SESSION III. THINKING SKILLS FOR THE DIGITAL AGE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03" name="Google Shape;10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9907" y="77334"/>
            <a:ext cx="2247900" cy="113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Questions to Consider</a:t>
            </a:r>
            <a:endParaRPr/>
          </a:p>
        </p:txBody>
      </p:sp>
      <p:sp>
        <p:nvSpPr>
          <p:cNvPr id="109" name="Google Shape;109;p2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KEY QUESTIONS:</a:t>
            </a:r>
            <a:endParaRPr/>
          </a:p>
        </p:txBody>
      </p:sp>
      <p:sp>
        <p:nvSpPr>
          <p:cNvPr id="110" name="Google Shape;110;p2"/>
          <p:cNvSpPr txBox="1"/>
          <p:nvPr>
            <p:ph idx="2" type="body"/>
          </p:nvPr>
        </p:nvSpPr>
        <p:spPr>
          <a:xfrm>
            <a:off x="1097280" y="2582334"/>
            <a:ext cx="817372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 How does determining the best approach help generate solutions?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 Why do effective thinkers create multiple solutions?</a:t>
            </a:r>
            <a:endParaRPr/>
          </a:p>
        </p:txBody>
      </p:sp>
      <p:pic>
        <p:nvPicPr>
          <p:cNvPr id="111" name="Google Shape;1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0966" y="3078481"/>
            <a:ext cx="4571999" cy="304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/>
          <p:nvPr>
            <p:ph type="ctrTitle"/>
          </p:nvPr>
        </p:nvSpPr>
        <p:spPr>
          <a:xfrm>
            <a:off x="1097279" y="758952"/>
            <a:ext cx="11010053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</a:pPr>
            <a:r>
              <a:rPr b="1" lang="en-US"/>
              <a:t>Activity</a:t>
            </a:r>
            <a:br>
              <a:rPr lang="en-US"/>
            </a:br>
            <a:r>
              <a:rPr lang="en-US" sz="6000"/>
              <a:t>Practice Problem-Solving Steps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b="1" lang="en-US"/>
              <a:t>Objective</a:t>
            </a:r>
            <a:endParaRPr/>
          </a:p>
        </p:txBody>
      </p:sp>
      <p:sp>
        <p:nvSpPr>
          <p:cNvPr id="122" name="Google Shape;122;p4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Help students practice the full problem-solving process — from identifying a problem, considering multiple perspectives, generating multiple solutions, evaluating options, selecting the best approach, and creating an action plan.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b="1" lang="en-US"/>
              <a:t>Instructions</a:t>
            </a:r>
            <a:endParaRPr/>
          </a:p>
        </p:txBody>
      </p:sp>
      <p:sp>
        <p:nvSpPr>
          <p:cNvPr id="128" name="Google Shape;128;p5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Form groups of 3–4 students.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30–45 minutes for the full activity. Each group presents for 5–7 minutes.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Choose a small real-life problem related to student or campus life.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Examples:</a:t>
            </a:r>
            <a:endParaRPr/>
          </a:p>
          <a:p>
            <a:pPr indent="0" lvl="2" marL="64008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- Limited group-study space</a:t>
            </a:r>
            <a:endParaRPr/>
          </a:p>
          <a:p>
            <a:pPr indent="0" lvl="2" marL="64008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- Scheduling conflicts</a:t>
            </a:r>
            <a:endParaRPr/>
          </a:p>
          <a:p>
            <a:pPr indent="0" lvl="2" marL="64008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- Transportation difficulties</a:t>
            </a:r>
            <a:endParaRPr/>
          </a:p>
          <a:p>
            <a:pPr indent="0" lvl="2" marL="64008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- Access to resources or services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Calibri"/>
              <a:buAutoNum type="arabicPeriod"/>
            </a:pPr>
            <a:r>
              <a:rPr lang="en-US" sz="2400"/>
              <a:t>Apply the problem-solving steps from </a:t>
            </a:r>
            <a:r>
              <a:rPr i="1" lang="en-US" sz="2400"/>
              <a:t>College Success</a:t>
            </a:r>
            <a:r>
              <a:rPr lang="en-US" sz="2400"/>
              <a:t> (OpenStax):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b="1" lang="en-US"/>
              <a:t>The problem-solving steps:</a:t>
            </a:r>
            <a:endParaRPr/>
          </a:p>
        </p:txBody>
      </p:sp>
      <p:sp>
        <p:nvSpPr>
          <p:cNvPr id="134" name="Google Shape;134;p6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400"/>
              <a:t>Step 1: Determine the issue(s)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Clearly identify the problem: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What is the issue?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Who is affected?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Why is it a problem?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400"/>
              <a:buNone/>
            </a:pPr>
            <a:r>
              <a:rPr b="1" lang="en-US" sz="2400"/>
              <a:t>Step 2: Recognize other perspectives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Consider viewpoints of all stakeholders involved (students, faculty, staff, administration, etc.).</a:t>
            </a:r>
            <a:endParaRPr/>
          </a:p>
          <a:p>
            <a:pPr indent="-30479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b="1" lang="en-US"/>
              <a:t>The problem-solving steps:</a:t>
            </a:r>
            <a:endParaRPr/>
          </a:p>
        </p:txBody>
      </p:sp>
      <p:sp>
        <p:nvSpPr>
          <p:cNvPr id="140" name="Google Shape;140;p7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400"/>
              <a:t>Step 3: Think of multiple possible results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Generate several potential solutions.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Do not evaluate yet—focus on variety and creativity.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400"/>
              <a:buNone/>
            </a:pPr>
            <a:r>
              <a:rPr b="1" lang="en-US" sz="2400"/>
              <a:t>Step 4: Research and evaluate the possibilities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Discuss the advantages and disadvantages of each proposed solution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Consider feasibility, resources, and unintended consequences.</a:t>
            </a:r>
            <a:endParaRPr/>
          </a:p>
          <a:p>
            <a:pPr indent="-30479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b="1" lang="en-US"/>
              <a:t>The problem-solving steps:</a:t>
            </a:r>
            <a:endParaRPr b="1"/>
          </a:p>
        </p:txBody>
      </p:sp>
      <p:sp>
        <p:nvSpPr>
          <p:cNvPr id="146" name="Google Shape;146;p8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400"/>
              <a:t>Step 5: Select the best result(s)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Choose the solution your group believes is most effective and realistic.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400"/>
              <a:buNone/>
            </a:pPr>
            <a:r>
              <a:rPr b="1" lang="en-US" sz="2400"/>
              <a:t>Step 6: Communicate your findings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Prepare a brief presentation including: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Problem description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Considered perspectives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Solutions generated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Rationale for choosing your final solution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How it could be implemented</a:t>
            </a:r>
            <a:endParaRPr sz="2400"/>
          </a:p>
          <a:p>
            <a:pPr indent="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b="1" lang="en-US"/>
              <a:t>The problem-solving steps:</a:t>
            </a:r>
            <a:endParaRPr/>
          </a:p>
        </p:txBody>
      </p:sp>
      <p:sp>
        <p:nvSpPr>
          <p:cNvPr id="152" name="Google Shape;152;p9"/>
          <p:cNvSpPr txBox="1"/>
          <p:nvPr>
            <p:ph idx="1" type="body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0479" lvl="1" marL="38404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400"/>
              <a:buNone/>
            </a:pPr>
            <a:r>
              <a:rPr b="1" lang="en-US" sz="2400"/>
              <a:t>Step 7: Establish logical action items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Create a clear, step-by-step action plan for putting the chosen solution into practice.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53" name="Google Shape;153;p9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154" name="Google Shape;15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5497" y="1737360"/>
            <a:ext cx="4448194" cy="45047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enerated image" id="159" name="Google Shape;159;p1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Generated image" id="160" name="Google Shape;160;p10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12192000" cy="6908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2025-12-07T14:42:41Z</dcterms:created>
  <dc:creator>Admin</dc:creator>
</cp:coreProperties>
</file>